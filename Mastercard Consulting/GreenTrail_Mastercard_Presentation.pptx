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1051560"/>
            <a:ext cx="1828800" cy="1828800"/>
          </a:xfrm>
          <a:prstGeom prst="ellipse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0" y="1051560"/>
            <a:ext cx="1828800" cy="182880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29077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323"/>
                </a:solidFill>
              </a:defRPr>
            </a:pPr>
            <a:r>
              <a:t>mastercard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B001B"/>
                </a:solidFill>
              </a:defRPr>
            </a:pPr>
            <a:r>
              <a:t>GREENTRAIL OUTDOORS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949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32323"/>
                </a:solidFill>
              </a:defRPr>
            </a:pPr>
            <a:r>
              <a:t>From promotion data</a:t>
            </a:r>
            <a:br/>
            <a:r>
              <a:t>to sustainable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F5F5F"/>
                </a:solidFill>
              </a:defRPr>
            </a:pPr>
            <a:r>
              <a:t>Data-driven storytelling | Leadership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86200"/>
            <a:ext cx="5394960" cy="64008"/>
          </a:xfrm>
          <a:prstGeom prst="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</a:defRPr>
            </a:pPr>
            <a:r>
              <a:t>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2452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</a:defRPr>
            </a:pPr>
            <a:r>
              <a:t>Identify the most promising promotion format and design a measurable, sustainability-aligned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80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F5F5F"/>
                </a:solidFill>
              </a:defRPr>
            </a:pPr>
            <a:r>
              <a:t>Mastercard Test &amp;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37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>
                <a:solidFill>
                  <a:srgbClr val="5F5F5F"/>
                </a:solidFill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256032"/>
            <a:ext cx="347472" cy="347472"/>
          </a:xfrm>
          <a:prstGeom prst="ellipse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2426" y="256032"/>
            <a:ext cx="347472" cy="347472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71048" y="61264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32323"/>
                </a:solidFill>
              </a:defRPr>
            </a:pPr>
            <a:r>
              <a:t>mastercard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5F5F"/>
                </a:solidFill>
              </a:defRPr>
            </a:pPr>
            <a:r>
              <a:t>01 | WHAT THE DATA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32323"/>
                </a:solidFill>
              </a:defRPr>
            </a:pPr>
            <a:r>
              <a:t>Special Events lead on customer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5F5F"/>
                </a:solidFill>
              </a:defRPr>
            </a:pPr>
            <a:r>
              <a:t>Historical results point to one clear frontrunner.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</a:defRPr>
            </a:pPr>
            <a:r>
              <a:t>Average visit uplift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4846320" cy="13716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10665" y="2922079"/>
            <a:ext cx="840028" cy="1924240"/>
          </a:xfrm>
          <a:prstGeom prst="round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3505" y="2602039"/>
            <a:ext cx="11143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20.72%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065" y="4919472"/>
            <a:ext cx="12972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F5F5F"/>
                </a:solidFill>
              </a:defRPr>
            </a:pPr>
            <a:r>
              <a:t>Buy-One-</a:t>
            </a:r>
            <a:br/>
            <a:r>
              <a:t>Get-One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6105" y="2402014"/>
            <a:ext cx="840028" cy="2444305"/>
          </a:xfrm>
          <a:prstGeom prst="round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945" y="2081974"/>
            <a:ext cx="11143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26.32%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7505" y="4919472"/>
            <a:ext cx="12972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F5F5F"/>
                </a:solidFill>
              </a:defRPr>
            </a:pPr>
            <a:r>
              <a:t>Discount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1545" y="2070473"/>
            <a:ext cx="840028" cy="2775846"/>
          </a:xfrm>
          <a:prstGeom prst="round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4385" y="1750433"/>
            <a:ext cx="11143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29.89%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2945" y="4919472"/>
            <a:ext cx="12972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F5F5F"/>
                </a:solidFill>
              </a:defRPr>
            </a:pPr>
            <a:r>
              <a:t>Special</a:t>
            </a:r>
            <a:br/>
            <a: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</a:defRPr>
            </a:pPr>
            <a:r>
              <a:t>Average sales after promotion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846320"/>
            <a:ext cx="4846320" cy="13716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88505" y="2175237"/>
            <a:ext cx="840028" cy="2671082"/>
          </a:xfrm>
          <a:prstGeom prst="roundRect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1345" y="1855197"/>
            <a:ext cx="11143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$37,750$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9905" y="4919472"/>
            <a:ext cx="12972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F5F5F"/>
                </a:solidFill>
              </a:defRPr>
            </a:pPr>
            <a:r>
              <a:t>Buy-One-</a:t>
            </a:r>
            <a:br/>
            <a:r>
              <a:t>Get-One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03945" y="2173272"/>
            <a:ext cx="840028" cy="2673047"/>
          </a:xfrm>
          <a:prstGeom prst="round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785" y="1853232"/>
            <a:ext cx="11143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$37,778$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5345" y="4919472"/>
            <a:ext cx="12972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F5F5F"/>
                </a:solidFill>
              </a:defRPr>
            </a:pPr>
            <a:r>
              <a:t>Discount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9385" y="2060257"/>
            <a:ext cx="840028" cy="2786062"/>
          </a:xfrm>
          <a:prstGeom prst="round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2225" y="1740217"/>
            <a:ext cx="11143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323"/>
                </a:solidFill>
              </a:defRPr>
            </a:pPr>
            <a:r>
              <a:t>$39,375$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0785" y="4919472"/>
            <a:ext cx="12972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F5F5F"/>
                </a:solidFill>
              </a:defRPr>
            </a:pPr>
            <a:r>
              <a:t>Special</a:t>
            </a:r>
            <a:br/>
            <a:r>
              <a:t>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57800"/>
            <a:ext cx="10424160" cy="658368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39496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B001B"/>
                </a:solidFill>
              </a:defRPr>
            </a:pPr>
            <a:r>
              <a:t>KEY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321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</a:defRPr>
            </a:pPr>
            <a:r>
              <a:t>Special Events generated the highest visit uplift (29.89%) and the highest post-promotion sales ($39,375).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F5F5F"/>
                </a:solidFill>
              </a:defRPr>
            </a:pPr>
            <a:r>
              <a:t>GreenTrail Outdoors  |  Mastercard Test &amp; Learn  |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256032"/>
            <a:ext cx="347472" cy="347472"/>
          </a:xfrm>
          <a:prstGeom prst="ellipse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2426" y="256032"/>
            <a:ext cx="347472" cy="347472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71048" y="61264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32323"/>
                </a:solidFill>
              </a:defRPr>
            </a:pPr>
            <a:r>
              <a:t>mastercard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5F5F"/>
                </a:solidFill>
              </a:defRPr>
            </a:pPr>
            <a:r>
              <a:t>02 | READ THE STORY, NOT JUST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32323"/>
                </a:solidFill>
              </a:defRPr>
            </a:pPr>
            <a:r>
              <a:t>The strongest signal is sustained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5F5F"/>
                </a:solidFill>
              </a:defRPr>
            </a:pPr>
            <a:r>
              <a:t>Average weekly sales before → during → after each 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30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</a:defRPr>
            </a:pPr>
            <a:r>
              <a:t>BOGO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43784"/>
            <a:ext cx="438912" cy="2368296"/>
          </a:xfrm>
          <a:prstGeom prst="round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569464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$38.5k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18488" y="2136370"/>
            <a:ext cx="438912" cy="3075709"/>
          </a:xfrm>
          <a:prstGeom prst="round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186205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$50.0k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85415" y="2889919"/>
            <a:ext cx="438912" cy="2322160"/>
          </a:xfrm>
          <a:prstGeom prst="round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3975" y="2615599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$37.8k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79" y="5330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</a:defRPr>
            </a:pPr>
            <a:r>
              <a:t>Discount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997569"/>
            <a:ext cx="438912" cy="2214510"/>
          </a:xfrm>
          <a:prstGeom prst="round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39" y="2723249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$36.0k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7" y="2211554"/>
            <a:ext cx="438912" cy="3000525"/>
          </a:xfrm>
          <a:prstGeom prst="round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8768" y="1937234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$48.8k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7136" y="2888210"/>
            <a:ext cx="438912" cy="2323869"/>
          </a:xfrm>
          <a:prstGeom prst="round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2613890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$37.8k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330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</a:defRPr>
            </a:pPr>
            <a:r>
              <a:t>Special Event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2997569"/>
            <a:ext cx="438912" cy="2214510"/>
          </a:xfrm>
          <a:prstGeom prst="round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2723249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$36.0k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2159438"/>
            <a:ext cx="438912" cy="3052641"/>
          </a:xfrm>
          <a:prstGeom prst="round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188511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$49.6k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48856" y="2789959"/>
            <a:ext cx="438912" cy="2422120"/>
          </a:xfrm>
          <a:prstGeom prst="round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2515639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32323"/>
                </a:solidFill>
              </a:defRPr>
            </a:pPr>
            <a:r>
              <a:t>$39.4k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2011680"/>
            <a:ext cx="201168" cy="201168"/>
          </a:xfrm>
          <a:prstGeom prst="rect">
            <a:avLst/>
          </a:prstGeom>
          <a:solidFill>
            <a:srgbClr val="AFAFAF"/>
          </a:solidFill>
          <a:ln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2832" y="1965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F5F"/>
                </a:solidFill>
              </a:defRPr>
            </a:pPr>
            <a:r>
              <a:t>Before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2450592"/>
            <a:ext cx="201168" cy="201168"/>
          </a:xfrm>
          <a:prstGeom prst="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42832" y="24048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F5F"/>
                </a:solidFill>
              </a:defRPr>
            </a:pPr>
            <a:r>
              <a:t>During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2889504"/>
            <a:ext cx="201168" cy="201168"/>
          </a:xfrm>
          <a:prstGeom prst="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28437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5F5F"/>
                </a:solidFill>
              </a:defRPr>
            </a:pPr>
            <a:r>
              <a:t>After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3520440"/>
            <a:ext cx="2788920" cy="132588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7033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B001B"/>
                </a:solidFill>
              </a:defRPr>
            </a:pPr>
            <a: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0233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</a:defRPr>
            </a:pPr>
            <a:r>
              <a:t>BOGO falls below its pre-promotion level after the event. Special Event retains the strongest post-promotion result.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806440"/>
            <a:ext cx="104241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870448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</a:defRPr>
            </a:pPr>
            <a:r>
              <a:t>Important caveat: all 25 historical stores were promoted, so these results show association—not causal impact.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F5F5F"/>
                </a:solidFill>
              </a:defRPr>
            </a:pPr>
            <a:r>
              <a:t>GreenTrail Outdoors  |  Mastercard Test &amp; Learn  |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256032"/>
            <a:ext cx="347472" cy="347472"/>
          </a:xfrm>
          <a:prstGeom prst="ellipse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2426" y="256032"/>
            <a:ext cx="347472" cy="347472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71048" y="61264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32323"/>
                </a:solidFill>
              </a:defRPr>
            </a:pPr>
            <a:r>
              <a:t>mastercard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5F5F"/>
                </a:solidFill>
              </a:defRPr>
            </a:pPr>
            <a:r>
              <a:t>03 | FROM INSIGHT TO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32323"/>
                </a:solidFill>
              </a:defRPr>
            </a:pPr>
            <a:r>
              <a:t>Turn the winning format into a sustainable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2323"/>
                </a:solidFill>
              </a:defRPr>
            </a:pPr>
            <a:r>
              <a:t>Recommended concept: Sustainable Outdoor Experience Event</a:t>
            </a:r>
          </a:p>
        </p:txBody>
      </p:sp>
      <p:sp>
        <p:nvSpPr>
          <p:cNvPr id="9" name="Oval 8"/>
          <p:cNvSpPr/>
          <p:nvPr/>
        </p:nvSpPr>
        <p:spPr>
          <a:xfrm>
            <a:off x="4800600" y="2057400"/>
            <a:ext cx="2468880" cy="2468880"/>
          </a:xfrm>
          <a:prstGeom prst="ellipse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6974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Sustainable</a:t>
            </a:r>
            <a:br/>
            <a:r>
              <a:t>Outdoor</a:t>
            </a:r>
            <a:br/>
            <a:r>
              <a:t>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2834640" cy="11430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73152" cy="1143000"/>
          </a:xfrm>
          <a:prstGeom prst="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029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001B"/>
                </a:solidFill>
              </a:defRPr>
            </a:pPr>
            <a:r>
              <a:t>SHOWCASE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5000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</a:defRPr>
            </a:pPr>
            <a:r>
              <a:t>Sustainable 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2834640" cy="11430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886200"/>
            <a:ext cx="73152" cy="1143000"/>
          </a:xfrm>
          <a:prstGeom prst="rect">
            <a:avLst/>
          </a:prstGeom>
          <a:solidFill>
            <a:srgbClr val="FFAA00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873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001B"/>
                </a:solidFill>
              </a:defRPr>
            </a:pPr>
            <a:r>
              <a:t>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40740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</a:defRPr>
            </a:pPr>
            <a:r>
              <a:t>Repair &amp; reuse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2834640" cy="11430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73152" cy="1143000"/>
          </a:xfrm>
          <a:prstGeom prst="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029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001B"/>
                </a:solidFill>
              </a:defRPr>
            </a:pPr>
            <a:r>
              <a:t>TRADE-IN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5000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</a:defRPr>
            </a:pPr>
            <a:r>
              <a:t>Recycle / trade-in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86200"/>
            <a:ext cx="2834640" cy="11430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886200"/>
            <a:ext cx="73152" cy="1143000"/>
          </a:xfrm>
          <a:prstGeom prst="rect">
            <a:avLst/>
          </a:prstGeom>
          <a:solidFill>
            <a:srgbClr val="FFAA00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0873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B001B"/>
                </a:solidFill>
              </a:defRPr>
            </a:pPr>
            <a:r>
              <a:t>EDUCATE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0740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</a:defRPr>
            </a:pPr>
            <a:r>
              <a:t>Sustainability education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4983480"/>
            <a:ext cx="4389120" cy="822960"/>
          </a:xfrm>
          <a:prstGeom prst="roundRect">
            <a:avLst/>
          </a:prstGeom>
          <a:solidFill>
            <a:srgbClr val="FAF5F2"/>
          </a:solidFill>
          <a:ln>
            <a:solidFill>
              <a:srgbClr val="FA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51389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B001B"/>
                </a:solidFill>
              </a:defRPr>
            </a:pPr>
            <a:r>
              <a:t>URBAN STORE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5093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$40,462 avg. post-promo sales vs. $35,917 suburban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F5F5F"/>
                </a:solidFill>
              </a:defRPr>
            </a:pPr>
            <a:r>
              <a:t>GreenTrail Outdoors  |  Mastercard Test &amp; Learn  |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35640" y="256032"/>
            <a:ext cx="347472" cy="347472"/>
          </a:xfrm>
          <a:prstGeom prst="ellipse">
            <a:avLst/>
          </a:prstGeom>
          <a:solidFill>
            <a:srgbClr val="EB0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2426" y="256032"/>
            <a:ext cx="347472" cy="347472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71048" y="61264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232323"/>
                </a:solidFill>
              </a:defRPr>
            </a:pPr>
            <a:r>
              <a:t>mastercard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5F5F"/>
                </a:solidFill>
              </a:defRPr>
            </a:pPr>
            <a:r>
              <a:t>04 | LEADERSHIP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32323"/>
                </a:solidFill>
              </a:defRPr>
            </a:pPr>
            <a:r>
              <a:t>Test → Measure →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5F5F"/>
                </a:solidFill>
              </a:defRPr>
            </a:pPr>
            <a:r>
              <a:t>Prove incremental ROI before expanding the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2880360" cy="1325880"/>
          </a:xfrm>
          <a:prstGeom prst="round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Sustainable Special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2880360" cy="132588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057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CONTROL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Comparable stores</a:t>
            </a:r>
            <a:br/>
            <a:r>
              <a:t>without new promotion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2880360" cy="1325880"/>
          </a:xfrm>
          <a:prstGeom prst="round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05740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Scale if incremental ROI is positive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2395728"/>
            <a:ext cx="640080" cy="164592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2395728"/>
            <a:ext cx="640080" cy="164592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</a:defRPr>
            </a:pPr>
            <a:r>
              <a:t>Measure success across four dimensions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520"/>
            <a:ext cx="251460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60520"/>
            <a:ext cx="64008" cy="960120"/>
          </a:xfrm>
          <a:prstGeom prst="rect">
            <a:avLst/>
          </a:prstGeom>
          <a:solidFill>
            <a:srgbClr val="EB001B"/>
          </a:solidFill>
          <a:ln>
            <a:solidFill>
              <a:srgbClr val="EB00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3434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B001B"/>
                </a:solidFill>
              </a:defRPr>
            </a:pPr>
            <a:r>
              <a:t>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45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</a:defRPr>
            </a:pPr>
            <a:r>
              <a:t>Incremental 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79" y="4160520"/>
            <a:ext cx="251460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1879" y="4160520"/>
            <a:ext cx="64008" cy="960120"/>
          </a:xfrm>
          <a:prstGeom prst="rect">
            <a:avLst/>
          </a:prstGeom>
          <a:solidFill>
            <a:srgbClr val="FF5F00"/>
          </a:solidFill>
          <a:ln>
            <a:solidFill>
              <a:srgbClr val="FF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59" y="43434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F00"/>
                </a:solidFill>
              </a:defRPr>
            </a:pPr>
            <a:r>
              <a:t>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4645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</a:defRPr>
            </a:pPr>
            <a:r>
              <a:t>Incremental profit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160520"/>
            <a:ext cx="251460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160520"/>
            <a:ext cx="64008" cy="960120"/>
          </a:xfrm>
          <a:prstGeom prst="rect">
            <a:avLst/>
          </a:prstGeom>
          <a:solidFill>
            <a:srgbClr val="FFAA00"/>
          </a:solidFill>
          <a:ln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3434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AA00"/>
                </a:solidFill>
              </a:defRPr>
            </a:pPr>
            <a:r>
              <a:t>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45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</a:defRPr>
            </a:pPr>
            <a:r>
              <a:t>Promotion ROI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19" y="4160520"/>
            <a:ext cx="251460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19" y="4160520"/>
            <a:ext cx="64008" cy="960120"/>
          </a:xfrm>
          <a:prstGeom prst="rect">
            <a:avLst/>
          </a:prstGeom>
          <a:solidFill>
            <a:srgbClr val="237D55"/>
          </a:solidFill>
          <a:ln>
            <a:solidFill>
              <a:srgbClr val="23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599" y="43434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37D55"/>
                </a:solidFill>
              </a:defRPr>
            </a:pPr>
            <a:r>
              <a:t>SUSTAINABILITY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599" y="46451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</a:defRPr>
            </a:pPr>
            <a:r>
              <a:t>Sustainable-product mix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532120"/>
            <a:ext cx="10104120" cy="566928"/>
          </a:xfrm>
          <a:prstGeom prst="roundRect">
            <a:avLst/>
          </a:prstGeom>
          <a:solidFill>
            <a:srgbClr val="FAF5F2"/>
          </a:solidFill>
          <a:ln>
            <a:solidFill>
              <a:srgbClr val="FA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67842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</a:defRPr>
            </a:pPr>
            <a:r>
              <a:t>Recommended test window: 4–6 weeks | Next action: approve pilot stores and establish baseline + control group.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F5F5F"/>
                </a:solidFill>
              </a:defRPr>
            </a:pPr>
            <a:r>
              <a:t>GreenTrail Outdoors  |  Mastercard Test &amp; Learn  |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